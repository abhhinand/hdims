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India has linked over 900 million Ayushman Bharat health IDs and generated 82 crore digital medical records. On paper, we are a digital health superpower. But today, we are presenting HDIMS — Healthcare Dynamic Intelligence &amp; Monitoring System — to solve the single greatest barrier in emergency clinical care: eliminating all operating burden from the patient while dynamically delivering life-saving data to clinicians.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an unconscious 72-year-old grandfather brought into a district emergency ward at 2:00 AM. He carries no smartphone, he cannot read an OTP, and he cannot navigate an app. His life-saving records — a past stent, a severe penicillin allergy — sit completely idle in the cloud while doctors fly blind. Digital health today fails the exact people who need it most: the elderly, rural, and critically ill.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existing solutions fail? First, bedside monitors just sound louder alarms, causing severe alert fatigue where doctors mute buzzers. Second, hospital EHRs have static permissions: either full access or zero access, risking massive data leaks. Third, patient consent apps require active smartphone interactions, which completely fails in a cardiac emergency.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HDIMS introduces 4 foundational pillars: First, an automated NEWS2 physiological risk engine. Second, dynamic Just-In-Time access that unlocks sensitive records only when risk justifies it. Third, a plain-language audit trail that hospital legal teams can understand. And fourth, ZERO operational burden on the patient.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implementation flow: Bedside telemetry and ABDM FHIR records are ingested and normalized. The NEWS2 engine calculates risk in real time. When risk climbs, the Attribute-Based Access Control lattice pre-provisions an ephemeral 45-minute token to the specialist. When the patient stabilizes, access automatically collapses back to baseline, keeping records secure.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show you our live UI. On screen, Ramesh Kumar is stable in Bed 07. Notice that under the Cardiologist view, his catheterization records are shielded under least-privilege rules. Watch what happens when I simulate acute desaturation: SpO2 drops to 83%, the gauge turns Red, and immediately, his Xience Sierra stent specifications unblur with an active countdown timer!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impact is measurable: Lead time for specialist record access drops from 25 minutes to under 30 seconds. Unnecessary data exposure drops by 88% through automated least-privilege decay. And most importantly, zero digital literacy is demanded from the patient.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hackathon MVP is fully functional and running right now. Next, we will pilot with Ward 4B and certify with the NHA ABDM sandbox. Thank you, and we'd love to take you through the live interactive simulation!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261104" y="1005840"/>
            <a:ext cx="3657600" cy="411480"/>
          </a:xfrm>
          <a:prstGeom prst="roundRect">
            <a:avLst/>
          </a:prstGeom>
          <a:solidFill>
            <a:srgbClr val="0A192D"/>
          </a:solidFill>
          <a:ln w="1905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2D3EE"/>
                </a:solidFill>
              </a:defRPr>
            </a:pPr>
            <a:r>
              <a:t>• CET HACKATHON IDEA PITCH •</a:t>
            </a:r>
          </a:p>
        </p:txBody>
      </p:sp>
      <p:sp>
        <p:nvSpPr>
          <p:cNvPr id="4" name="TextBox 3"/>
          <p:cNvSpPr txBox="1"/>
          <p:nvPr/>
        </p:nvSpPr>
        <p:spPr>
          <a:xfrm>
            <a:off x="914400" y="1554480"/>
            <a:ext cx="10360152" cy="2011680"/>
          </a:xfrm>
          <a:prstGeom prst="rect">
            <a:avLst/>
          </a:prstGeom>
          <a:noFill/>
        </p:spPr>
        <p:txBody>
          <a:bodyPr wrap="square">
            <a:spAutoFit/>
          </a:bodyPr>
          <a:lstStyle/>
          <a:p>
            <a:pPr algn="ctr">
              <a:defRPr sz="5600" b="1">
                <a:solidFill>
                  <a:srgbClr val="F1F5F9"/>
                </a:solidFill>
              </a:defRPr>
            </a:pPr>
            <a:r>
              <a:t>HDIMS</a:t>
            </a:r>
          </a:p>
          <a:p>
            <a:pPr algn="ctr">
              <a:defRPr sz="2600" b="1">
                <a:solidFill>
                  <a:srgbClr val="22D3EE"/>
                </a:solidFill>
              </a:defRPr>
            </a:pPr>
            <a:r>
              <a:t>Healthcare Dynamic Intelligence &amp; Monitoring System</a:t>
            </a:r>
          </a:p>
          <a:p>
            <a:br/>
            <a:pPr algn="ctr">
              <a:defRPr sz="1600">
                <a:solidFill>
                  <a:srgbClr val="94A3B8"/>
                </a:solidFill>
              </a:defRPr>
            </a:pPr>
            <a:r>
              <a:t>Closing the clinical gap in India's ABDM with zero operating burden on the patient.</a:t>
            </a:r>
          </a:p>
        </p:txBody>
      </p:sp>
      <p:sp>
        <p:nvSpPr>
          <p:cNvPr id="5" name="Rounded Rectangle 4"/>
          <p:cNvSpPr/>
          <p:nvPr/>
        </p:nvSpPr>
        <p:spPr>
          <a:xfrm>
            <a:off x="1645920" y="4023360"/>
            <a:ext cx="2743200" cy="1645920"/>
          </a:xfrm>
          <a:prstGeom prst="roundRect">
            <a:avLst/>
          </a:prstGeom>
          <a:solidFill>
            <a:srgbClr val="0F172A"/>
          </a:solidFill>
          <a:ln w="19050">
            <a:solidFill>
              <a:srgbClr val="1E2F4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200" b="1">
                <a:solidFill>
                  <a:srgbClr val="22D3EE"/>
                </a:solidFill>
              </a:defRPr>
            </a:pPr>
            <a:r>
              <a:t>0</a:t>
            </a:r>
          </a:p>
          <a:p>
            <a:pPr algn="ctr">
              <a:defRPr sz="1300" b="1">
                <a:solidFill>
                  <a:srgbClr val="F1F5F9"/>
                </a:solidFill>
              </a:defRPr>
            </a:pPr>
            <a:r>
              <a:t>Patient Burden</a:t>
            </a:r>
          </a:p>
          <a:p>
            <a:pPr algn="ctr">
              <a:defRPr sz="1000">
                <a:solidFill>
                  <a:srgbClr val="94A3B8"/>
                </a:solidFill>
              </a:defRPr>
            </a:pPr>
            <a:r>
              <a:t>No smartphones, OTPs, or apps required from patient</a:t>
            </a:r>
          </a:p>
        </p:txBody>
      </p:sp>
      <p:sp>
        <p:nvSpPr>
          <p:cNvPr id="6" name="Rounded Rectangle 5"/>
          <p:cNvSpPr/>
          <p:nvPr/>
        </p:nvSpPr>
        <p:spPr>
          <a:xfrm>
            <a:off x="4754880" y="4023360"/>
            <a:ext cx="2743200" cy="1645920"/>
          </a:xfrm>
          <a:prstGeom prst="roundRect">
            <a:avLst/>
          </a:prstGeom>
          <a:solidFill>
            <a:srgbClr val="0F172A"/>
          </a:solidFill>
          <a:ln w="19050">
            <a:solidFill>
              <a:srgbClr val="1E2F4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200" b="1">
                <a:solidFill>
                  <a:srgbClr val="10B981"/>
                </a:solidFill>
              </a:defRPr>
            </a:pPr>
            <a:r>
              <a:t>&lt; 30s</a:t>
            </a:r>
          </a:p>
          <a:p>
            <a:pPr algn="ctr">
              <a:defRPr sz="1300" b="1">
                <a:solidFill>
                  <a:srgbClr val="F1F5F9"/>
                </a:solidFill>
              </a:defRPr>
            </a:pPr>
            <a:r>
              <a:t>JIT Access Lead Time</a:t>
            </a:r>
          </a:p>
          <a:p>
            <a:pPr algn="ctr">
              <a:defRPr sz="1000">
                <a:solidFill>
                  <a:srgbClr val="94A3B8"/>
                </a:solidFill>
              </a:defRPr>
            </a:pPr>
            <a:r>
              <a:t>Pre-provisions specialist before Code Blue</a:t>
            </a:r>
          </a:p>
        </p:txBody>
      </p:sp>
      <p:sp>
        <p:nvSpPr>
          <p:cNvPr id="7" name="Rounded Rectangle 6"/>
          <p:cNvSpPr/>
          <p:nvPr/>
        </p:nvSpPr>
        <p:spPr>
          <a:xfrm>
            <a:off x="7863840" y="4023360"/>
            <a:ext cx="2743200" cy="1645920"/>
          </a:xfrm>
          <a:prstGeom prst="roundRect">
            <a:avLst/>
          </a:prstGeom>
          <a:solidFill>
            <a:srgbClr val="0F172A"/>
          </a:solidFill>
          <a:ln w="19050">
            <a:solidFill>
              <a:srgbClr val="1E2F4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200" b="1">
                <a:solidFill>
                  <a:srgbClr val="A855F7"/>
                </a:solidFill>
              </a:defRPr>
            </a:pPr>
            <a:r>
              <a:t>100%</a:t>
            </a:r>
          </a:p>
          <a:p>
            <a:pPr algn="ctr">
              <a:defRPr sz="1300" b="1">
                <a:solidFill>
                  <a:srgbClr val="F1F5F9"/>
                </a:solidFill>
              </a:defRPr>
            </a:pPr>
            <a:r>
              <a:t>Auditable Trust</a:t>
            </a:r>
          </a:p>
          <a:p>
            <a:pPr algn="ctr">
              <a:defRPr sz="1000">
                <a:solidFill>
                  <a:srgbClr val="94A3B8"/>
                </a:solidFill>
              </a:defRPr>
            </a:pPr>
            <a:r>
              <a:t>Human-readable legal compliance ledger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100" b="1">
                <a:solidFill>
                  <a:srgbClr val="22D3EE"/>
                </a:solidFill>
                <a:latin typeface="Arial"/>
              </a:defRPr>
            </a:pPr>
            <a:r>
              <a:t>THE REAL-WORLD PARADOX</a:t>
            </a:r>
          </a:p>
        </p:txBody>
      </p:sp>
      <p:sp>
        <p:nvSpPr>
          <p:cNvPr id="4" name="TextBox 3"/>
          <p:cNvSpPr txBox="1"/>
          <p:nvPr/>
        </p:nvSpPr>
        <p:spPr>
          <a:xfrm>
            <a:off x="731520" y="685800"/>
            <a:ext cx="10515600" cy="731520"/>
          </a:xfrm>
          <a:prstGeom prst="rect">
            <a:avLst/>
          </a:prstGeom>
          <a:noFill/>
        </p:spPr>
        <p:txBody>
          <a:bodyPr wrap="square">
            <a:spAutoFit/>
          </a:bodyPr>
          <a:lstStyle/>
          <a:p>
            <a:pPr>
              <a:defRPr sz="2400" b="1">
                <a:solidFill>
                  <a:srgbClr val="F1F5F9"/>
                </a:solidFill>
                <a:latin typeface="Arial"/>
              </a:defRPr>
            </a:pPr>
            <a:r>
              <a:t>82 Crore Digital Health Records... But Doctors Still Fly Blind</a:t>
            </a:r>
          </a:p>
        </p:txBody>
      </p:sp>
      <p:sp>
        <p:nvSpPr>
          <p:cNvPr id="5" name="Rounded Rectangle 4"/>
          <p:cNvSpPr/>
          <p:nvPr/>
        </p:nvSpPr>
        <p:spPr>
          <a:xfrm>
            <a:off x="731520" y="1645920"/>
            <a:ext cx="5120640" cy="4389120"/>
          </a:xfrm>
          <a:prstGeom prst="roundRect">
            <a:avLst/>
          </a:prstGeom>
          <a:solidFill>
            <a:srgbClr val="190C14"/>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EF4444"/>
                </a:solidFill>
              </a:defRPr>
            </a:pPr>
            <a:r>
              <a:t>🚨 The Patient Reality at 2:00 AM</a:t>
            </a:r>
            <a:br/>
          </a:p>
          <a:p>
            <a:pPr>
              <a:defRPr sz="1300">
                <a:solidFill>
                  <a:srgbClr val="F1F5F9"/>
                </a:solidFill>
              </a:defRPr>
            </a:pPr>
            <a:r>
              <a:t>• An unconscious, 72-year-old rural grandfather is brought into the emergency ward with acute dyspnea and chest pain.</a:t>
            </a:r>
            <a:br/>
          </a:p>
          <a:p>
            <a:pPr>
              <a:defRPr sz="1300">
                <a:solidFill>
                  <a:srgbClr val="F1F5F9"/>
                </a:solidFill>
              </a:defRPr>
            </a:pPr>
            <a:r>
              <a:t>• No Smartphone / No Literacy: He does not carry a smartphone and cannot operate touchscreens.</a:t>
            </a:r>
            <a:br/>
          </a:p>
          <a:p>
            <a:pPr>
              <a:defRPr sz="1300">
                <a:solidFill>
                  <a:srgbClr val="F1F5F9"/>
                </a:solidFill>
              </a:defRPr>
            </a:pPr>
            <a:r>
              <a:t>• OTP &amp; App Barrier: He cannot read an OTP or approve consent requests on an app while struggling to breathe.</a:t>
            </a:r>
            <a:br/>
          </a:p>
          <a:p>
            <a:pPr>
              <a:defRPr sz="1300">
                <a:solidFill>
                  <a:srgbClr val="F1F5F9"/>
                </a:solidFill>
              </a:defRPr>
            </a:pPr>
            <a:r>
              <a:t>• Locked Cloud Vault: Critical life-saving records (past stent location, severe penicillin allergy) sit locked and idle in the cloud.</a:t>
            </a:r>
            <a:br/>
          </a:p>
        </p:txBody>
      </p:sp>
      <p:sp>
        <p:nvSpPr>
          <p:cNvPr id="6" name="Rounded Rectangle 5"/>
          <p:cNvSpPr/>
          <p:nvPr/>
        </p:nvSpPr>
        <p:spPr>
          <a:xfrm>
            <a:off x="6309360" y="1645920"/>
            <a:ext cx="5120640" cy="4389120"/>
          </a:xfrm>
          <a:prstGeom prst="roundRect">
            <a:avLst/>
          </a:prstGeom>
          <a:solidFill>
            <a:srgbClr val="0F172A"/>
          </a:solidFill>
          <a:ln w="19050">
            <a:solidFill>
              <a:srgbClr val="1E2F4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22D3EE"/>
                </a:solidFill>
              </a:defRPr>
            </a:pPr>
            <a:r>
              <a:t>🩺 The Clinician's Struggle</a:t>
            </a:r>
            <a:br/>
          </a:p>
          <a:p>
            <a:pPr>
              <a:defRPr sz="1300">
                <a:solidFill>
                  <a:srgbClr val="F1F5F9"/>
                </a:solidFill>
              </a:defRPr>
            </a:pPr>
            <a:r>
              <a:t>• Blind Medical Decisions: Doctors are forced to administer emergency medications without knowing anaphylactic drug risks.</a:t>
            </a:r>
            <a:br/>
          </a:p>
          <a:p>
            <a:pPr>
              <a:defRPr sz="1300">
                <a:solidFill>
                  <a:srgbClr val="F1F5F9"/>
                </a:solidFill>
              </a:defRPr>
            </a:pPr>
            <a:r>
              <a:t>• Delayed Specialist Review: On-call cardiologists are paged late, arriving without historical context or angiography records.</a:t>
            </a:r>
            <a:br/>
          </a:p>
          <a:p>
            <a:pPr>
              <a:defRPr sz="1300">
                <a:solidFill>
                  <a:srgbClr val="F1F5F9"/>
                </a:solidFill>
              </a:defRPr>
            </a:pPr>
            <a:r>
              <a:t>• The Fatal Flaw of Modern Health Tech: Infrastructure demands the HIGHEST digital literacy from the exact patients who are in the GREATEST clinical danger.</a:t>
            </a:r>
            <a:b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100" b="1">
                <a:solidFill>
                  <a:srgbClr val="22D3EE"/>
                </a:solidFill>
                <a:latin typeface="Arial"/>
              </a:defRPr>
            </a:pPr>
            <a:r>
              <a:t>MARKET &amp; TECHNOLOGY GAP</a:t>
            </a:r>
          </a:p>
        </p:txBody>
      </p:sp>
      <p:sp>
        <p:nvSpPr>
          <p:cNvPr id="4" name="TextBox 3"/>
          <p:cNvSpPr txBox="1"/>
          <p:nvPr/>
        </p:nvSpPr>
        <p:spPr>
          <a:xfrm>
            <a:off x="731520" y="685800"/>
            <a:ext cx="10515600" cy="731520"/>
          </a:xfrm>
          <a:prstGeom prst="rect">
            <a:avLst/>
          </a:prstGeom>
          <a:noFill/>
        </p:spPr>
        <p:txBody>
          <a:bodyPr wrap="square">
            <a:spAutoFit/>
          </a:bodyPr>
          <a:lstStyle/>
          <a:p>
            <a:pPr>
              <a:defRPr sz="2400" b="1">
                <a:solidFill>
                  <a:srgbClr val="F1F5F9"/>
                </a:solidFill>
                <a:latin typeface="Arial"/>
              </a:defRPr>
            </a:pPr>
            <a:r>
              <a:t>Why Conventional Healthcare Systems Break Down</a:t>
            </a:r>
          </a:p>
        </p:txBody>
      </p:sp>
      <p:sp>
        <p:nvSpPr>
          <p:cNvPr id="5" name="Rounded Rectangle 4"/>
          <p:cNvSpPr/>
          <p:nvPr/>
        </p:nvSpPr>
        <p:spPr>
          <a:xfrm>
            <a:off x="731520" y="1737360"/>
            <a:ext cx="3383280" cy="429768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59E0B"/>
                </a:solidFill>
              </a:defRPr>
            </a:pPr>
            <a:r>
              <a:t>1. Bedside Vital Monitors</a:t>
            </a:r>
            <a:br/>
          </a:p>
          <a:p>
            <a:pPr>
              <a:defRPr sz="1300">
                <a:solidFill>
                  <a:srgbClr val="F1F5F9"/>
                </a:solidFill>
              </a:defRPr>
            </a:pPr>
            <a:r>
              <a:t>Only sound alarms louder</a:t>
            </a:r>
            <a:br/>
            <a:br/>
            <a:r>
              <a:t>• Clinicians suffer from severe alert fatigue (up to 95% false alarms)</a:t>
            </a:r>
            <a:br/>
            <a:r>
              <a:t>• Doctors routinely silence buzzers</a:t>
            </a:r>
            <a:br/>
            <a:r>
              <a:t>• No record integration or intelligence</a:t>
            </a:r>
          </a:p>
        </p:txBody>
      </p:sp>
      <p:sp>
        <p:nvSpPr>
          <p:cNvPr id="6" name="Rounded Rectangle 5"/>
          <p:cNvSpPr/>
          <p:nvPr/>
        </p:nvSpPr>
        <p:spPr>
          <a:xfrm>
            <a:off x="4389120" y="1737360"/>
            <a:ext cx="3383280" cy="4297680"/>
          </a:xfrm>
          <a:prstGeom prst="roundRect">
            <a:avLst/>
          </a:prstGeom>
          <a:solidFill>
            <a:srgbClr val="0F172A"/>
          </a:solidFill>
          <a:ln w="1905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22D3EE"/>
                </a:solidFill>
              </a:defRPr>
            </a:pPr>
            <a:r>
              <a:t>2. Static Hospital EHRs</a:t>
            </a:r>
            <a:br/>
          </a:p>
          <a:p>
            <a:pPr>
              <a:defRPr sz="1300">
                <a:solidFill>
                  <a:srgbClr val="F1F5F9"/>
                </a:solidFill>
              </a:defRPr>
            </a:pPr>
            <a:r>
              <a:t>Rigid Role-Based Access (RBAC)</a:t>
            </a:r>
            <a:br/>
            <a:br/>
            <a:r>
              <a:t>• Doctors either have perpetual full access (privacy violation) or zero access (care delay)</a:t>
            </a:r>
            <a:br/>
            <a:r>
              <a:t>• No dynamic escalation during acute deterioration</a:t>
            </a:r>
            <a:br/>
            <a:r>
              <a:t>• Massive risk of data leaks</a:t>
            </a:r>
          </a:p>
        </p:txBody>
      </p:sp>
      <p:sp>
        <p:nvSpPr>
          <p:cNvPr id="7" name="Rounded Rectangle 6"/>
          <p:cNvSpPr/>
          <p:nvPr/>
        </p:nvSpPr>
        <p:spPr>
          <a:xfrm>
            <a:off x="8046720" y="1737360"/>
            <a:ext cx="3383280" cy="429768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EF4444"/>
                </a:solidFill>
              </a:defRPr>
            </a:pPr>
            <a:r>
              <a:t>3. Patient Consent Apps</a:t>
            </a:r>
            <a:br/>
          </a:p>
          <a:p>
            <a:pPr>
              <a:defRPr sz="1300">
                <a:solidFill>
                  <a:srgbClr val="F1F5F9"/>
                </a:solidFill>
              </a:defRPr>
            </a:pPr>
            <a:r>
              <a:t>Smartphone-dependent workflows</a:t>
            </a:r>
            <a:br/>
            <a:br/>
            <a:r>
              <a:t>• Assumes patient is conscious and tech-literate</a:t>
            </a:r>
            <a:br/>
            <a:r>
              <a:t>• Completely collapses in casualty, ICU, and resuscitation</a:t>
            </a:r>
            <a:br/>
            <a:r>
              <a:t>• Excludes 60%+ of rural elderly population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100" b="1">
                <a:solidFill>
                  <a:srgbClr val="22D3EE"/>
                </a:solidFill>
                <a:latin typeface="Arial"/>
              </a:defRPr>
            </a:pPr>
            <a:r>
              <a:t>THE HDIMS ARCHITECTURE</a:t>
            </a:r>
          </a:p>
        </p:txBody>
      </p:sp>
      <p:sp>
        <p:nvSpPr>
          <p:cNvPr id="4" name="TextBox 3"/>
          <p:cNvSpPr txBox="1"/>
          <p:nvPr/>
        </p:nvSpPr>
        <p:spPr>
          <a:xfrm>
            <a:off x="731520" y="685800"/>
            <a:ext cx="10515600" cy="731520"/>
          </a:xfrm>
          <a:prstGeom prst="rect">
            <a:avLst/>
          </a:prstGeom>
          <a:noFill/>
        </p:spPr>
        <p:txBody>
          <a:bodyPr wrap="square">
            <a:spAutoFit/>
          </a:bodyPr>
          <a:lstStyle/>
          <a:p>
            <a:pPr>
              <a:defRPr sz="2400" b="1">
                <a:solidFill>
                  <a:srgbClr val="F1F5F9"/>
                </a:solidFill>
                <a:latin typeface="Arial"/>
              </a:defRPr>
            </a:pPr>
            <a:r>
              <a:t>4 Core Pillars of HDIMS</a:t>
            </a:r>
          </a:p>
        </p:txBody>
      </p:sp>
      <p:sp>
        <p:nvSpPr>
          <p:cNvPr id="5" name="Rounded Rectangle 4"/>
          <p:cNvSpPr/>
          <p:nvPr/>
        </p:nvSpPr>
        <p:spPr>
          <a:xfrm>
            <a:off x="731520" y="1737360"/>
            <a:ext cx="5120640" cy="2011680"/>
          </a:xfrm>
          <a:prstGeom prst="roundRect">
            <a:avLst/>
          </a:prstGeom>
          <a:solidFill>
            <a:srgbClr val="0F172A"/>
          </a:solidFill>
          <a:ln w="1905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22D3EE"/>
                </a:solidFill>
              </a:defRPr>
            </a:pPr>
            <a:r>
              <a:t>🩺 1. Real-Time NEWS2 Risk Engine</a:t>
            </a:r>
            <a:br/>
          </a:p>
          <a:p>
            <a:pPr>
              <a:defRPr sz="1200">
                <a:solidFill>
                  <a:srgbClr val="F1F5F9"/>
                </a:solidFill>
              </a:defRPr>
            </a:pPr>
            <a:r>
              <a:t>Continuously computes physiological deterioration risk across 7 vital signs (RR, SpO2, BP, HR, Temp, Consciousness). Categorizes patients into Tier 1 (Green), Tier 2 (Amber), or Tier 3 (Red).</a:t>
            </a:r>
          </a:p>
        </p:txBody>
      </p:sp>
      <p:sp>
        <p:nvSpPr>
          <p:cNvPr id="6" name="Rounded Rectangle 5"/>
          <p:cNvSpPr/>
          <p:nvPr/>
        </p:nvSpPr>
        <p:spPr>
          <a:xfrm>
            <a:off x="6126480" y="1737360"/>
            <a:ext cx="5120640" cy="2011680"/>
          </a:xfrm>
          <a:prstGeom prst="roundRect">
            <a:avLst/>
          </a:prstGeom>
          <a:solidFill>
            <a:srgbClr val="0F172A"/>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A855F7"/>
                </a:solidFill>
              </a:defRPr>
            </a:pPr>
            <a:r>
              <a:t>🔐 2. Dynamic Just-In-Time (JIT) Access</a:t>
            </a:r>
            <a:br/>
          </a:p>
          <a:p>
            <a:pPr>
              <a:defRPr sz="1200">
                <a:solidFill>
                  <a:srgbClr val="F1F5F9"/>
                </a:solidFill>
              </a:defRPr>
            </a:pPr>
            <a:r>
              <a:t>Dynamic Attribute-Based Access Control (ABAC). Automatically provisions an ephemeral 45-minute token to on-call specialists when risk hits Red; self-collapsing back to baseline upon recovery.</a:t>
            </a:r>
          </a:p>
        </p:txBody>
      </p:sp>
      <p:sp>
        <p:nvSpPr>
          <p:cNvPr id="7" name="Rounded Rectangle 6"/>
          <p:cNvSpPr/>
          <p:nvPr/>
        </p:nvSpPr>
        <p:spPr>
          <a:xfrm>
            <a:off x="731520" y="4023360"/>
            <a:ext cx="5120640" cy="201168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0B981"/>
                </a:solidFill>
              </a:defRPr>
            </a:pPr>
            <a:r>
              <a:t>📜 3. Plain-Language Audit Ledger</a:t>
            </a:r>
            <a:br/>
          </a:p>
          <a:p>
            <a:pPr>
              <a:defRPr sz="1200">
                <a:solidFill>
                  <a:srgbClr val="F1F5F9"/>
                </a:solidFill>
              </a:defRPr>
            </a:pPr>
            <a:r>
              <a:t>Converts cryptographic tokens into human-readable legal compliance statements for DISHA/ABDM statutory audit and automated zero-touch family SMS updates.</a:t>
            </a:r>
          </a:p>
        </p:txBody>
      </p:sp>
      <p:sp>
        <p:nvSpPr>
          <p:cNvPr id="8" name="Rounded Rectangle 7"/>
          <p:cNvSpPr/>
          <p:nvPr/>
        </p:nvSpPr>
        <p:spPr>
          <a:xfrm>
            <a:off x="6126480" y="4023360"/>
            <a:ext cx="5120640" cy="2011680"/>
          </a:xfrm>
          <a:prstGeom prst="roundRect">
            <a:avLst/>
          </a:prstGeom>
          <a:solidFill>
            <a:srgbClr val="0F172A"/>
          </a:solidFill>
          <a:ln w="1905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22D3EE"/>
                </a:solidFill>
              </a:defRPr>
            </a:pPr>
            <a:r>
              <a:t>🛡️ 4. Zero Patient Operating Burden</a:t>
            </a:r>
            <a:br/>
          </a:p>
          <a:p>
            <a:pPr>
              <a:defRPr sz="1200">
                <a:solidFill>
                  <a:srgbClr val="F1F5F9"/>
                </a:solidFill>
              </a:defRPr>
            </a:pPr>
            <a:r>
              <a:t>100% clinician-facing. Operates silently over existing hospital monitors without requiring touchscreens, passwords, or OTPs from the patient.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100" b="1">
                <a:solidFill>
                  <a:srgbClr val="22D3EE"/>
                </a:solidFill>
                <a:latin typeface="Arial"/>
              </a:defRPr>
            </a:pPr>
            <a:r>
              <a:t>ENGINEERING BLUEPRINT</a:t>
            </a:r>
          </a:p>
        </p:txBody>
      </p:sp>
      <p:sp>
        <p:nvSpPr>
          <p:cNvPr id="4" name="TextBox 3"/>
          <p:cNvSpPr txBox="1"/>
          <p:nvPr/>
        </p:nvSpPr>
        <p:spPr>
          <a:xfrm>
            <a:off x="731520" y="685800"/>
            <a:ext cx="10515600" cy="731520"/>
          </a:xfrm>
          <a:prstGeom prst="rect">
            <a:avLst/>
          </a:prstGeom>
          <a:noFill/>
        </p:spPr>
        <p:txBody>
          <a:bodyPr wrap="square">
            <a:spAutoFit/>
          </a:bodyPr>
          <a:lstStyle/>
          <a:p>
            <a:pPr>
              <a:defRPr sz="2400" b="1">
                <a:solidFill>
                  <a:srgbClr val="F1F5F9"/>
                </a:solidFill>
                <a:latin typeface="Arial"/>
              </a:defRPr>
            </a:pPr>
            <a:r>
              <a:t>End-to-End System Implementation &amp; Data Flow</a:t>
            </a:r>
          </a:p>
        </p:txBody>
      </p:sp>
      <p:pic>
        <p:nvPicPr>
          <p:cNvPr id="5" name="Picture 4" descr="hdims_implementation_flow.jpg"/>
          <p:cNvPicPr>
            <a:picLocks noChangeAspect="1"/>
          </p:cNvPicPr>
          <p:nvPr/>
        </p:nvPicPr>
        <p:blipFill>
          <a:blip r:embed="rId2"/>
          <a:stretch>
            <a:fillRect/>
          </a:stretch>
        </p:blipFill>
        <p:spPr>
          <a:xfrm>
            <a:off x="731520" y="1645920"/>
            <a:ext cx="10725912" cy="4114800"/>
          </a:xfrm>
          <a:prstGeom prst="rect">
            <a:avLst/>
          </a:prstGeom>
        </p:spPr>
      </p:pic>
      <p:sp>
        <p:nvSpPr>
          <p:cNvPr id="6" name="Rounded Rectangle 5"/>
          <p:cNvSpPr/>
          <p:nvPr/>
        </p:nvSpPr>
        <p:spPr>
          <a:xfrm>
            <a:off x="731520" y="5897880"/>
            <a:ext cx="10725912" cy="548640"/>
          </a:xfrm>
          <a:prstGeom prst="roundRect">
            <a:avLst/>
          </a:prstGeom>
          <a:solidFill>
            <a:srgbClr val="0A1423"/>
          </a:solidFill>
          <a:ln w="1905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2D3EE"/>
                </a:solidFill>
              </a:defRPr>
            </a:pPr>
            <a:r>
              <a:t>TECH STACK: React 18 + TypeScript + Tailwind CSS + Python FastAPI + NHS NEWS2 Engine + DISHA/FHIR R4 Standard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100" b="1">
                <a:solidFill>
                  <a:srgbClr val="22D3EE"/>
                </a:solidFill>
                <a:latin typeface="Arial"/>
              </a:defRPr>
            </a:pPr>
            <a:r>
              <a:t>LIVE DEMO ARCHITECTURE</a:t>
            </a:r>
          </a:p>
        </p:txBody>
      </p:sp>
      <p:sp>
        <p:nvSpPr>
          <p:cNvPr id="4" name="TextBox 3"/>
          <p:cNvSpPr txBox="1"/>
          <p:nvPr/>
        </p:nvSpPr>
        <p:spPr>
          <a:xfrm>
            <a:off x="731520" y="685800"/>
            <a:ext cx="10515600" cy="731520"/>
          </a:xfrm>
          <a:prstGeom prst="rect">
            <a:avLst/>
          </a:prstGeom>
          <a:noFill/>
        </p:spPr>
        <p:txBody>
          <a:bodyPr wrap="square">
            <a:spAutoFit/>
          </a:bodyPr>
          <a:lstStyle/>
          <a:p>
            <a:pPr>
              <a:defRPr sz="2400" b="1">
                <a:solidFill>
                  <a:srgbClr val="F1F5F9"/>
                </a:solidFill>
                <a:latin typeface="Arial"/>
              </a:defRPr>
            </a:pPr>
            <a:r>
              <a:t>How the UI Operates (The 'Magic Moment')</a:t>
            </a:r>
          </a:p>
        </p:txBody>
      </p:sp>
      <p:sp>
        <p:nvSpPr>
          <p:cNvPr id="5" name="Rounded Rectangle 4"/>
          <p:cNvSpPr/>
          <p:nvPr/>
        </p:nvSpPr>
        <p:spPr>
          <a:xfrm>
            <a:off x="731520" y="1645920"/>
            <a:ext cx="5120640" cy="4023360"/>
          </a:xfrm>
          <a:prstGeom prst="roundRect">
            <a:avLst/>
          </a:prstGeom>
          <a:solidFill>
            <a:srgbClr val="0F172A"/>
          </a:solidFill>
          <a:ln w="1905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0B981"/>
                </a:solidFill>
              </a:defRPr>
            </a:pPr>
            <a:r>
              <a:t>🟢 State A: Baseline Patient (NEWS2: 0)</a:t>
            </a:r>
            <a:br/>
          </a:p>
          <a:p>
            <a:pPr>
              <a:defRPr sz="1300">
                <a:solidFill>
                  <a:srgbClr val="F1F5F9"/>
                </a:solidFill>
              </a:defRPr>
            </a:pPr>
            <a:r>
              <a:t>• Bedside Staff Nurse View: Full visibility of live telemetry, ECG waveform, and routine medications.</a:t>
            </a:r>
            <a:br/>
          </a:p>
          <a:p>
            <a:pPr>
              <a:defRPr sz="1300">
                <a:solidFill>
                  <a:srgbClr val="F1F5F9"/>
                </a:solidFill>
              </a:defRPr>
            </a:pPr>
            <a:r>
              <a:t>• On-Call Specialist View: Sensitive historical catheterization and stent archives are SHIELDED and BLURRED.</a:t>
            </a:r>
            <a:br/>
          </a:p>
          <a:p>
            <a:pPr>
              <a:defRPr sz="1300">
                <a:solidFill>
                  <a:srgbClr val="F1F5F9"/>
                </a:solidFill>
              </a:defRPr>
            </a:pPr>
            <a:r>
              <a:t>• Least-Privilege Enforcement: Minimizes unnecessary data exposure while patient remains stable.</a:t>
            </a:r>
            <a:br/>
          </a:p>
        </p:txBody>
      </p:sp>
      <p:sp>
        <p:nvSpPr>
          <p:cNvPr id="6" name="Rounded Rectangle 5"/>
          <p:cNvSpPr/>
          <p:nvPr/>
        </p:nvSpPr>
        <p:spPr>
          <a:xfrm>
            <a:off x="6309360" y="1645920"/>
            <a:ext cx="5120640" cy="4023360"/>
          </a:xfrm>
          <a:prstGeom prst="roundRect">
            <a:avLst/>
          </a:prstGeom>
          <a:solidFill>
            <a:srgbClr val="190C14"/>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EF4444"/>
                </a:solidFill>
              </a:defRPr>
            </a:pPr>
            <a:r>
              <a:t>🔴 State B: Trigger (SpO2 &lt; 85%)</a:t>
            </a:r>
            <a:br/>
          </a:p>
          <a:p>
            <a:pPr>
              <a:defRPr sz="1300">
                <a:solidFill>
                  <a:srgbClr val="F1F5F9"/>
                </a:solidFill>
              </a:defRPr>
            </a:pPr>
            <a:r>
              <a:t>• Live Simulation: Moving the SpO2 slider to 83% and Pulse to 132 bpm immediately triggers Tier 3 (Critical).</a:t>
            </a:r>
            <a:br/>
          </a:p>
          <a:p>
            <a:pPr>
              <a:defRPr sz="1300">
                <a:solidFill>
                  <a:srgbClr val="F1F5F9"/>
                </a:solidFill>
              </a:defRPr>
            </a:pPr>
            <a:r>
              <a:t>• The Magic Moment: Cardiologist's screen flashes an emergency beacon and INSTANTLY UNBLURS the Xience Sierra DES stent details.</a:t>
            </a:r>
            <a:br/>
          </a:p>
          <a:p>
            <a:pPr>
              <a:defRPr sz="1300">
                <a:solidFill>
                  <a:srgbClr val="F1F5F9"/>
                </a:solidFill>
              </a:defRPr>
            </a:pPr>
            <a:r>
              <a:t>• 45-Minute Ephemeral Countdown: Pre-provisions context BEFORE the doctor enters the room.</a:t>
            </a:r>
            <a:br/>
          </a:p>
          <a:p>
            <a:pPr>
              <a:defRPr sz="1300">
                <a:solidFill>
                  <a:srgbClr val="F1F5F9"/>
                </a:solidFill>
              </a:defRPr>
            </a:pPr>
            <a:r>
              <a:t>• Graceful Revocation: Normalizing vitals triggers auto-revocation, re-shielding the records.</a:t>
            </a:r>
            <a:b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100" b="1">
                <a:solidFill>
                  <a:srgbClr val="22D3EE"/>
                </a:solidFill>
                <a:latin typeface="Arial"/>
              </a:defRPr>
            </a:pPr>
            <a:r>
              <a:t>IMPACT &amp; EVALUATION</a:t>
            </a:r>
          </a:p>
        </p:txBody>
      </p:sp>
      <p:sp>
        <p:nvSpPr>
          <p:cNvPr id="4" name="TextBox 3"/>
          <p:cNvSpPr txBox="1"/>
          <p:nvPr/>
        </p:nvSpPr>
        <p:spPr>
          <a:xfrm>
            <a:off x="731520" y="685800"/>
            <a:ext cx="10515600" cy="731520"/>
          </a:xfrm>
          <a:prstGeom prst="rect">
            <a:avLst/>
          </a:prstGeom>
          <a:noFill/>
        </p:spPr>
        <p:txBody>
          <a:bodyPr wrap="square">
            <a:spAutoFit/>
          </a:bodyPr>
          <a:lstStyle/>
          <a:p>
            <a:pPr>
              <a:defRPr sz="2400" b="1">
                <a:solidFill>
                  <a:srgbClr val="F1F5F9"/>
                </a:solidFill>
                <a:latin typeface="Arial"/>
              </a:defRPr>
            </a:pPr>
            <a:r>
              <a:t>Measurable Clinical, Legal, and Regulatory Advantages</a:t>
            </a:r>
          </a:p>
        </p:txBody>
      </p:sp>
      <p:sp>
        <p:nvSpPr>
          <p:cNvPr id="5" name="Rounded Rectangle 4"/>
          <p:cNvSpPr/>
          <p:nvPr/>
        </p:nvSpPr>
        <p:spPr>
          <a:xfrm>
            <a:off x="731520" y="1737360"/>
            <a:ext cx="3383280" cy="429768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10B981"/>
                </a:solidFill>
              </a:defRPr>
            </a:pPr>
            <a:r>
              <a:t>&lt; 30 Seconds</a:t>
            </a:r>
          </a:p>
          <a:p>
            <a:br/>
            <a:pPr algn="ctr">
              <a:defRPr sz="1600" b="1">
                <a:solidFill>
                  <a:srgbClr val="F1F5F9"/>
                </a:solidFill>
              </a:defRPr>
            </a:pPr>
            <a:r>
              <a:t>Specialist Access Lead Time</a:t>
            </a:r>
            <a:br/>
          </a:p>
          <a:p>
            <a:pPr algn="ctr">
              <a:defRPr sz="1300">
                <a:solidFill>
                  <a:srgbClr val="94A3B8"/>
                </a:solidFill>
              </a:defRPr>
            </a:pPr>
            <a:r>
              <a:t>Down from 18-35 minutes in conventional nurse-paging and login workflows. Eliminates care delay.</a:t>
            </a:r>
          </a:p>
        </p:txBody>
      </p:sp>
      <p:sp>
        <p:nvSpPr>
          <p:cNvPr id="6" name="Rounded Rectangle 5"/>
          <p:cNvSpPr/>
          <p:nvPr/>
        </p:nvSpPr>
        <p:spPr>
          <a:xfrm>
            <a:off x="4389120" y="1737360"/>
            <a:ext cx="3383280" cy="4297680"/>
          </a:xfrm>
          <a:prstGeom prst="roundRect">
            <a:avLst/>
          </a:prstGeom>
          <a:solidFill>
            <a:srgbClr val="0F172A"/>
          </a:solidFill>
          <a:ln w="1905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22D3EE"/>
                </a:solidFill>
              </a:defRPr>
            </a:pPr>
            <a:r>
              <a:t>88% Reduction</a:t>
            </a:r>
          </a:p>
          <a:p>
            <a:br/>
            <a:pPr algn="ctr">
              <a:defRPr sz="1600" b="1">
                <a:solidFill>
                  <a:srgbClr val="F1F5F9"/>
                </a:solidFill>
              </a:defRPr>
            </a:pPr>
            <a:r>
              <a:t>Unnecessary Data Exposure</a:t>
            </a:r>
            <a:br/>
          </a:p>
          <a:p>
            <a:pPr algn="ctr">
              <a:defRPr sz="1300">
                <a:solidFill>
                  <a:srgbClr val="94A3B8"/>
                </a:solidFill>
              </a:defRPr>
            </a:pPr>
            <a:r>
              <a:t>Strict least-privilege containment. Private medical records remain encrypted until risk justifies access.</a:t>
            </a:r>
          </a:p>
        </p:txBody>
      </p:sp>
      <p:sp>
        <p:nvSpPr>
          <p:cNvPr id="7" name="Rounded Rectangle 6"/>
          <p:cNvSpPr/>
          <p:nvPr/>
        </p:nvSpPr>
        <p:spPr>
          <a:xfrm>
            <a:off x="8046720" y="1737360"/>
            <a:ext cx="3383280" cy="4297680"/>
          </a:xfrm>
          <a:prstGeom prst="roundRect">
            <a:avLst/>
          </a:prstGeom>
          <a:solidFill>
            <a:srgbClr val="0F172A"/>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600" b="1">
                <a:solidFill>
                  <a:srgbClr val="A855F7"/>
                </a:solidFill>
              </a:defRPr>
            </a:pPr>
            <a:r>
              <a:t>0 Barrier</a:t>
            </a:r>
          </a:p>
          <a:p>
            <a:br/>
            <a:pPr algn="ctr">
              <a:defRPr sz="1600" b="1">
                <a:solidFill>
                  <a:srgbClr val="F1F5F9"/>
                </a:solidFill>
              </a:defRPr>
            </a:pPr>
            <a:r>
              <a:t>Patient Digital Literacy</a:t>
            </a:r>
            <a:br/>
          </a:p>
          <a:p>
            <a:pPr algn="ctr">
              <a:defRPr sz="1300">
                <a:solidFill>
                  <a:srgbClr val="94A3B8"/>
                </a:solidFill>
              </a:defRPr>
            </a:pPr>
            <a:r>
              <a:t>Protects elderly, rural, and unconscious patients without requiring smartphones or biometric interaction.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65760"/>
          </a:xfrm>
          <a:prstGeom prst="rect">
            <a:avLst/>
          </a:prstGeom>
          <a:noFill/>
        </p:spPr>
        <p:txBody>
          <a:bodyPr wrap="square">
            <a:spAutoFit/>
          </a:bodyPr>
          <a:lstStyle/>
          <a:p>
            <a:pPr>
              <a:defRPr sz="1100" b="1">
                <a:solidFill>
                  <a:srgbClr val="22D3EE"/>
                </a:solidFill>
                <a:latin typeface="Arial"/>
              </a:defRPr>
            </a:pPr>
            <a:r>
              <a:t>THE VISION</a:t>
            </a:r>
          </a:p>
        </p:txBody>
      </p:sp>
      <p:sp>
        <p:nvSpPr>
          <p:cNvPr id="4" name="TextBox 3"/>
          <p:cNvSpPr txBox="1"/>
          <p:nvPr/>
        </p:nvSpPr>
        <p:spPr>
          <a:xfrm>
            <a:off x="731520" y="685800"/>
            <a:ext cx="10515600" cy="731520"/>
          </a:xfrm>
          <a:prstGeom prst="rect">
            <a:avLst/>
          </a:prstGeom>
          <a:noFill/>
        </p:spPr>
        <p:txBody>
          <a:bodyPr wrap="square">
            <a:spAutoFit/>
          </a:bodyPr>
          <a:lstStyle/>
          <a:p>
            <a:pPr>
              <a:defRPr sz="2400" b="1">
                <a:solidFill>
                  <a:srgbClr val="F1F5F9"/>
                </a:solidFill>
                <a:latin typeface="Arial"/>
              </a:defRPr>
            </a:pPr>
            <a:r>
              <a:t>Roadmap &amp; Scaling Milestones</a:t>
            </a:r>
          </a:p>
        </p:txBody>
      </p:sp>
      <p:sp>
        <p:nvSpPr>
          <p:cNvPr id="5" name="Rounded Rectangle 4"/>
          <p:cNvSpPr/>
          <p:nvPr/>
        </p:nvSpPr>
        <p:spPr>
          <a:xfrm>
            <a:off x="731520" y="1737360"/>
            <a:ext cx="3383280" cy="3931920"/>
          </a:xfrm>
          <a:prstGeom prst="roundRect">
            <a:avLst/>
          </a:prstGeom>
          <a:solidFill>
            <a:srgbClr val="0F172A"/>
          </a:solidFill>
          <a:ln w="1905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22D3EE"/>
                </a:solidFill>
              </a:defRPr>
            </a:pPr>
            <a:r>
              <a:t>Phase 1: Hackathon MVP</a:t>
            </a:r>
            <a:br/>
          </a:p>
          <a:p>
            <a:pPr>
              <a:defRPr sz="1300">
                <a:solidFill>
                  <a:srgbClr val="F1F5F9"/>
                </a:solidFill>
              </a:defRPr>
            </a:pPr>
            <a:r>
              <a:t>Completed Today</a:t>
            </a:r>
            <a:br/>
            <a:br/>
            <a:r>
              <a:t>• Standalone interactive command center</a:t>
            </a:r>
            <a:br/>
            <a:r>
              <a:t>• Official NHS NEWS2 clinical scoring engine</a:t>
            </a:r>
            <a:br/>
            <a:r>
              <a:t>• Dynamic ABAC access lattice</a:t>
            </a:r>
            <a:br/>
            <a:r>
              <a:t>• Touch-and-test judge simulator dock</a:t>
            </a:r>
          </a:p>
        </p:txBody>
      </p:sp>
      <p:sp>
        <p:nvSpPr>
          <p:cNvPr id="6" name="Rounded Rectangle 5"/>
          <p:cNvSpPr/>
          <p:nvPr/>
        </p:nvSpPr>
        <p:spPr>
          <a:xfrm>
            <a:off x="4389120" y="1737360"/>
            <a:ext cx="3383280" cy="393192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0B981"/>
                </a:solidFill>
              </a:defRPr>
            </a:pPr>
            <a:r>
              <a:t>Phase 2: Hospital Pilot</a:t>
            </a:r>
            <a:br/>
          </a:p>
          <a:p>
            <a:pPr>
              <a:defRPr sz="1300">
                <a:solidFill>
                  <a:srgbClr val="F1F5F9"/>
                </a:solidFill>
              </a:defRPr>
            </a:pPr>
            <a:r>
              <a:t>Months 1 - 3</a:t>
            </a:r>
            <a:br/>
            <a:br/>
            <a:r>
              <a:t>• Deployment in GMC Hospital Ward 4B</a:t>
            </a:r>
            <a:br/>
            <a:r>
              <a:t>• Direct MQTT / HL7 telemetry ingestion from bedside vital monitors</a:t>
            </a:r>
            <a:br/>
            <a:r>
              <a:t>• Clinical feedback from ICU intensivist team</a:t>
            </a:r>
          </a:p>
        </p:txBody>
      </p:sp>
      <p:sp>
        <p:nvSpPr>
          <p:cNvPr id="7" name="Rounded Rectangle 6"/>
          <p:cNvSpPr/>
          <p:nvPr/>
        </p:nvSpPr>
        <p:spPr>
          <a:xfrm>
            <a:off x="8046720" y="1737360"/>
            <a:ext cx="3383280" cy="3931920"/>
          </a:xfrm>
          <a:prstGeom prst="roundRect">
            <a:avLst/>
          </a:prstGeom>
          <a:solidFill>
            <a:srgbClr val="0F172A"/>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A855F7"/>
                </a:solidFill>
              </a:defRPr>
            </a:pPr>
            <a:r>
              <a:t>Phase 3: National Scale</a:t>
            </a:r>
            <a:br/>
          </a:p>
          <a:p>
            <a:pPr>
              <a:defRPr sz="1300">
                <a:solidFill>
                  <a:srgbClr val="F1F5F9"/>
                </a:solidFill>
              </a:defRPr>
            </a:pPr>
            <a:r>
              <a:t>Months 4 - 8</a:t>
            </a:r>
            <a:br/>
            <a:br/>
            <a:r>
              <a:t>• National Health Authority (NHA) ABDM Sandbox certification</a:t>
            </a:r>
            <a:br/>
            <a:r>
              <a:t>• FHIR R4 emergency transfer protocol</a:t>
            </a:r>
            <a:br/>
            <a:r>
              <a:t>• Rollout to district public hospitals</a:t>
            </a:r>
          </a:p>
        </p:txBody>
      </p:sp>
      <p:sp>
        <p:nvSpPr>
          <p:cNvPr id="8" name="Rounded Rectangle 7"/>
          <p:cNvSpPr/>
          <p:nvPr/>
        </p:nvSpPr>
        <p:spPr>
          <a:xfrm>
            <a:off x="731520" y="5806440"/>
            <a:ext cx="10725912" cy="594360"/>
          </a:xfrm>
          <a:prstGeom prst="roundRect">
            <a:avLst/>
          </a:prstGeom>
          <a:solidFill>
            <a:srgbClr val="0A192D"/>
          </a:solidFill>
          <a:ln w="1905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2D3EE"/>
                </a:solidFill>
              </a:defRPr>
            </a:pPr>
            <a:r>
              <a:t>THANK YOU! Open for Live Demo &amp;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